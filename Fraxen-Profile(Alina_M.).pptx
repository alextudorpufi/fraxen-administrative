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3"/>
  </p:notesMasterIdLst>
  <p:sldIdLst>
    <p:sldId id="326" r:id="rId2"/>
  </p:sldIdLst>
  <p:sldSz cx="12192000" cy="6858000"/>
  <p:notesSz cx="6858000" cy="9144000"/>
  <p:custDataLst>
    <p:tags r:id="rId4"/>
  </p:custDataLst>
  <p:defaultTextStyle>
    <a:defPPr>
      <a:defRPr lang="en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4EFF"/>
    <a:srgbClr val="FF00FF"/>
    <a:srgbClr val="555C61"/>
    <a:srgbClr val="F0DB3C"/>
    <a:srgbClr val="F5E7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13"/>
    <p:restoredTop sz="93810"/>
  </p:normalViewPr>
  <p:slideViewPr>
    <p:cSldViewPr snapToGrid="0">
      <p:cViewPr varScale="1">
        <p:scale>
          <a:sx n="120" d="100"/>
          <a:sy n="120" d="100"/>
        </p:scale>
        <p:origin x="7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6D860D-82BB-144B-97B4-7BF677FF55AA}" type="datetimeFigureOut">
              <a:rPr lang="en-RO" smtClean="0"/>
              <a:t>28.01.2026</a:t>
            </a:fld>
            <a:endParaRPr lang="en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8B48FC-C7BB-384C-95A9-84F198553CD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404374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1F187-A6F1-DC8A-478A-727EF11BB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A4FF48-2279-5649-15C7-F913ABD109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921205-F47E-5F72-2029-9B22E2D28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578059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AF553-1C5A-8B03-658F-826D417A51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04625E-4F75-60B7-90C5-FDD9F50CD5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EB39A-5CC0-D665-6E2D-DC6F58CF6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4A841-F512-8DEE-5B86-07597DB3E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C15F5-B035-C57A-490F-12CBAE90D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1173716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19B5C-75FE-F97F-5380-4AB3D0165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81331-0453-5C8D-5197-41AB8837E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3773E-BB4D-87B3-0D07-23554AD10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D28F5-252A-3CA1-739D-E1A000628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0049F-BD58-B9B1-F2B0-7B3C1E580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830375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D8436-3E6B-8032-3A99-7B35F40C2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12F47-A34E-7FC3-7CC1-CF91F7D81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9E646-5390-602E-D26E-1A03CD365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D0599-4688-4A37-DBEB-EB5F536BB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005E0-C4B1-1018-0E4C-8ECECA0A1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720344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86E8D-6B66-9A04-3ADE-1A42CF782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E2674-E366-70E9-7544-A6D65C0B9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CE48C-6CB8-6D52-AC5D-D094374DC5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0662CB-458D-6188-B250-A6C8A11D7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987D0C-4F07-A0EC-3DD8-BBA3EB078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4AF1C7-69ED-A711-65AB-3653F92D3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999699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1831D-8158-372B-78D2-A1651DF60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D739B-E0B9-ACF8-C98A-581EB2715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9DBAA-1BB5-B5FC-FC39-076FECAB6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00ED9E-3799-5B54-3286-EF042474F9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84CEA9-3D21-CBF2-FFBB-CAAF40CC22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2CBDB6-054D-6E52-8F8F-67A166542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78D5CB-DED2-9CB9-12EA-6E862B054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D96E0B-C174-507A-55F8-1A698B731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886096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B6935-1995-DC3C-542C-7C3E45FCA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68772-7473-5C1A-CA91-48C5318C7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0E95D2-E30A-C2C6-4359-63657628B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894D29-9CCC-4139-F0CF-E94A8EB7D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395533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6E392B-98FF-217D-A6E7-D0648EEC4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513AB1-686D-25E0-B593-1C6EED44B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3DDA7-5CFC-4447-212C-E464DE4DE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369098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828C2-C28D-8B3E-7D6B-401EE6868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DD8EA-8E98-28DD-22EF-85FAAA5F1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2D83E-B5BD-9949-12AA-6690C0E0A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BA0846-E676-DA6D-4006-2DE52B262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D0D8CA-E637-0367-EA6C-F910573DA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7FD99C-EDBC-AE85-78CF-9FC4DAE72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508628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267F2-54D5-B5F0-B3C8-BC7ACA497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E2E127-C4A1-D643-0609-76545673FB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A2CAF-7A52-DD7C-F563-A648040776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702CFA-F159-DC5E-B189-517E6608D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3C0BDB-2308-81D4-16B2-DCD1420E7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7FF84D-2A58-BA32-9CD6-D68571526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426601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29163-5078-5F22-1DE2-BEC491DF5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A50EC7-463B-ACB3-628A-27A43F2B95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F5452-A479-7220-0573-5D2803BD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26D9E-E962-BBCC-4797-B6DA8A89E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B1658-03F9-5EDC-CB5B-B8D7EE9DF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4288302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699F2D-FDFD-5168-3D40-2B49E97730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6737E4-A0BC-CB91-226F-B8F5AFE46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75259-45B1-A736-3FC4-443756CF9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461E5-DFAB-D8C9-6832-1AB17BCCC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229E4-1988-5374-21BF-75EAB62B6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391351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5447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C5875F55-A5D6-667B-C015-6E654AB3A1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5232230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606" imgH="608" progId="TCLayout.ActiveDocument.1">
                  <p:embed/>
                </p:oleObj>
              </mc:Choice>
              <mc:Fallback>
                <p:oleObj name="think-cell Slide" r:id="rId15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875F55-A5D6-667B-C015-6E654AB3A1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F4123E-5EEE-E888-DDAA-C724AFEA9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F6D98-2099-EB19-855E-853CD5F11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4E592-8F2C-884A-3ED4-DDE78B797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7BDA6-A985-C67A-6686-2FAEB20FA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281AE-5DB8-DF77-631C-7FB87FC5D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717462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35" userDrawn="1">
          <p15:clr>
            <a:srgbClr val="F26B43"/>
          </p15:clr>
        </p15:guide>
        <p15:guide id="2" orient="horz" pos="1087" userDrawn="1">
          <p15:clr>
            <a:srgbClr val="F26B43"/>
          </p15:clr>
        </p15:guide>
        <p15:guide id="3" orient="horz" pos="3981" userDrawn="1">
          <p15:clr>
            <a:srgbClr val="F26B43"/>
          </p15:clr>
        </p15:guide>
        <p15:guide id="4" pos="528" userDrawn="1">
          <p15:clr>
            <a:srgbClr val="F26B43"/>
          </p15:clr>
        </p15:guide>
        <p15:guide id="5" pos="71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156B-ADD1-7558-51F3-86AF3555A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rofile_gender">
            <a:extLst>
              <a:ext uri="{FF2B5EF4-FFF2-40B4-BE49-F238E27FC236}">
                <a16:creationId xmlns:a16="http://schemas.microsoft.com/office/drawing/2014/main" id="{7F264C95-5E23-B94D-7711-4FEFD95A4FEB}"/>
              </a:ext>
            </a:extLst>
          </p:cNvPr>
          <p:cNvGrpSpPr/>
          <p:nvPr/>
        </p:nvGrpSpPr>
        <p:grpSpPr>
          <a:xfrm>
            <a:off x="419100" y="972022"/>
            <a:ext cx="2262188" cy="2262188"/>
            <a:chOff x="622697" y="1148579"/>
            <a:chExt cx="2714625" cy="2714625"/>
          </a:xfrm>
          <a:solidFill>
            <a:srgbClr val="894EFF"/>
          </a:solidFill>
        </p:grpSpPr>
        <p:sp>
          <p:nvSpPr>
            <p:cNvPr id="5" name="profile_gender_3">
              <a:extLst>
                <a:ext uri="{FF2B5EF4-FFF2-40B4-BE49-F238E27FC236}">
                  <a16:creationId xmlns:a16="http://schemas.microsoft.com/office/drawing/2014/main" id="{D8DF3F6B-5793-CC30-93D9-AF16F7C0288B}"/>
                </a:ext>
              </a:extLst>
            </p:cNvPr>
            <p:cNvSpPr/>
            <p:nvPr/>
          </p:nvSpPr>
          <p:spPr>
            <a:xfrm>
              <a:off x="622697" y="1148579"/>
              <a:ext cx="2714625" cy="2714625"/>
            </a:xfrm>
            <a:custGeom>
              <a:avLst/>
              <a:gdLst>
                <a:gd name="connsiteX0" fmla="*/ 2714625 w 2714625"/>
                <a:gd name="connsiteY0" fmla="*/ 1357313 h 2714625"/>
                <a:gd name="connsiteX1" fmla="*/ 1357313 w 2714625"/>
                <a:gd name="connsiteY1" fmla="*/ 2714625 h 2714625"/>
                <a:gd name="connsiteX2" fmla="*/ 0 w 2714625"/>
                <a:gd name="connsiteY2" fmla="*/ 1357313 h 2714625"/>
                <a:gd name="connsiteX3" fmla="*/ 1357313 w 2714625"/>
                <a:gd name="connsiteY3" fmla="*/ 0 h 2714625"/>
                <a:gd name="connsiteX4" fmla="*/ 2714625 w 2714625"/>
                <a:gd name="connsiteY4" fmla="*/ 1357313 h 2714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4625" h="2714625">
                  <a:moveTo>
                    <a:pt x="2714625" y="1357313"/>
                  </a:moveTo>
                  <a:cubicBezTo>
                    <a:pt x="2714625" y="2106936"/>
                    <a:pt x="2106936" y="2714625"/>
                    <a:pt x="1357313" y="2714625"/>
                  </a:cubicBezTo>
                  <a:cubicBezTo>
                    <a:pt x="607690" y="2714625"/>
                    <a:pt x="0" y="2106936"/>
                    <a:pt x="0" y="1357313"/>
                  </a:cubicBezTo>
                  <a:cubicBezTo>
                    <a:pt x="0" y="607690"/>
                    <a:pt x="607690" y="0"/>
                    <a:pt x="1357313" y="0"/>
                  </a:cubicBezTo>
                  <a:cubicBezTo>
                    <a:pt x="2106936" y="0"/>
                    <a:pt x="2714625" y="607690"/>
                    <a:pt x="2714625" y="1357313"/>
                  </a:cubicBezTo>
                  <a:close/>
                </a:path>
              </a:pathLst>
            </a:custGeom>
            <a:solidFill>
              <a:srgbClr val="8957E6"/>
            </a:solidFill>
            <a:ln w="180975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RO" sz="1500">
                <a:solidFill>
                  <a:srgbClr val="C7BFEE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6" name="profile_gender_2">
              <a:extLst>
                <a:ext uri="{FF2B5EF4-FFF2-40B4-BE49-F238E27FC236}">
                  <a16:creationId xmlns:a16="http://schemas.microsoft.com/office/drawing/2014/main" id="{E2842A19-E9A6-F8AC-9692-66B4510107BF}"/>
                </a:ext>
              </a:extLst>
            </p:cNvPr>
            <p:cNvSpPr/>
            <p:nvPr/>
          </p:nvSpPr>
          <p:spPr>
            <a:xfrm>
              <a:off x="1075135" y="2596379"/>
              <a:ext cx="1809750" cy="904875"/>
            </a:xfrm>
            <a:custGeom>
              <a:avLst/>
              <a:gdLst>
                <a:gd name="connsiteX0" fmla="*/ 1809750 w 1809750"/>
                <a:gd name="connsiteY0" fmla="*/ 904875 h 904875"/>
                <a:gd name="connsiteX1" fmla="*/ 1809750 w 1809750"/>
                <a:gd name="connsiteY1" fmla="*/ 904875 h 904875"/>
                <a:gd name="connsiteX2" fmla="*/ 904875 w 1809750"/>
                <a:gd name="connsiteY2" fmla="*/ 0 h 904875"/>
                <a:gd name="connsiteX3" fmla="*/ 904875 w 1809750"/>
                <a:gd name="connsiteY3" fmla="*/ 0 h 904875"/>
                <a:gd name="connsiteX4" fmla="*/ 0 w 1809750"/>
                <a:gd name="connsiteY4" fmla="*/ 904875 h 904875"/>
                <a:gd name="connsiteX5" fmla="*/ 0 w 1809750"/>
                <a:gd name="connsiteY5" fmla="*/ 904875 h 904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09750" h="904875">
                  <a:moveTo>
                    <a:pt x="1809750" y="904875"/>
                  </a:moveTo>
                  <a:lnTo>
                    <a:pt x="1809750" y="904875"/>
                  </a:lnTo>
                  <a:cubicBezTo>
                    <a:pt x="1809750" y="405112"/>
                    <a:pt x="1404638" y="0"/>
                    <a:pt x="904875" y="0"/>
                  </a:cubicBezTo>
                  <a:lnTo>
                    <a:pt x="904875" y="0"/>
                  </a:lnTo>
                  <a:cubicBezTo>
                    <a:pt x="405113" y="0"/>
                    <a:pt x="0" y="405112"/>
                    <a:pt x="0" y="904875"/>
                  </a:cubicBezTo>
                  <a:lnTo>
                    <a:pt x="0" y="904875"/>
                  </a:lnTo>
                </a:path>
              </a:pathLst>
            </a:custGeom>
            <a:solidFill>
              <a:srgbClr val="8957E6"/>
            </a:solidFill>
            <a:ln w="180975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RO" sz="1500">
                <a:solidFill>
                  <a:srgbClr val="C7BFEE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7" name="profile_gender_1">
              <a:extLst>
                <a:ext uri="{FF2B5EF4-FFF2-40B4-BE49-F238E27FC236}">
                  <a16:creationId xmlns:a16="http://schemas.microsoft.com/office/drawing/2014/main" id="{B5C90188-9EA8-04E6-EBAB-10F8993BBFDF}"/>
                </a:ext>
              </a:extLst>
            </p:cNvPr>
            <p:cNvSpPr/>
            <p:nvPr/>
          </p:nvSpPr>
          <p:spPr>
            <a:xfrm>
              <a:off x="1437085" y="1510529"/>
              <a:ext cx="1085850" cy="1085850"/>
            </a:xfrm>
            <a:custGeom>
              <a:avLst/>
              <a:gdLst>
                <a:gd name="connsiteX0" fmla="*/ 1085850 w 1085850"/>
                <a:gd name="connsiteY0" fmla="*/ 542925 h 1085850"/>
                <a:gd name="connsiteX1" fmla="*/ 542925 w 1085850"/>
                <a:gd name="connsiteY1" fmla="*/ 1085850 h 1085850"/>
                <a:gd name="connsiteX2" fmla="*/ 0 w 1085850"/>
                <a:gd name="connsiteY2" fmla="*/ 542925 h 1085850"/>
                <a:gd name="connsiteX3" fmla="*/ 542925 w 1085850"/>
                <a:gd name="connsiteY3" fmla="*/ 0 h 1085850"/>
                <a:gd name="connsiteX4" fmla="*/ 1085850 w 1085850"/>
                <a:gd name="connsiteY4" fmla="*/ 542925 h 1085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5850" h="1085850">
                  <a:moveTo>
                    <a:pt x="1085850" y="542925"/>
                  </a:moveTo>
                  <a:cubicBezTo>
                    <a:pt x="1085850" y="842774"/>
                    <a:pt x="842774" y="1085850"/>
                    <a:pt x="542925" y="1085850"/>
                  </a:cubicBezTo>
                  <a:cubicBezTo>
                    <a:pt x="243076" y="1085850"/>
                    <a:pt x="0" y="842774"/>
                    <a:pt x="0" y="542925"/>
                  </a:cubicBezTo>
                  <a:cubicBezTo>
                    <a:pt x="0" y="243076"/>
                    <a:pt x="243076" y="0"/>
                    <a:pt x="542925" y="0"/>
                  </a:cubicBezTo>
                  <a:cubicBezTo>
                    <a:pt x="842774" y="0"/>
                    <a:pt x="1085850" y="243076"/>
                    <a:pt x="1085850" y="542925"/>
                  </a:cubicBezTo>
                  <a:close/>
                </a:path>
              </a:pathLst>
            </a:custGeom>
            <a:solidFill>
              <a:srgbClr val="8957E6"/>
            </a:solidFill>
            <a:ln w="180975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RO" sz="1500">
                <a:solidFill>
                  <a:srgbClr val="C7BFEE"/>
                </a:solidFill>
                <a:highlight>
                  <a:srgbClr val="FFFF00"/>
                </a:highlight>
              </a:endParaRPr>
            </a:p>
          </p:txBody>
        </p:sp>
      </p:grpSp>
      <p:sp>
        <p:nvSpPr>
          <p:cNvPr id="8" name="sidebar_gender">
            <a:extLst>
              <a:ext uri="{FF2B5EF4-FFF2-40B4-BE49-F238E27FC236}">
                <a16:creationId xmlns:a16="http://schemas.microsoft.com/office/drawing/2014/main" id="{4DF7A243-42A9-3A03-CA12-371DFF1D471F}"/>
              </a:ext>
            </a:extLst>
          </p:cNvPr>
          <p:cNvSpPr/>
          <p:nvPr/>
        </p:nvSpPr>
        <p:spPr>
          <a:xfrm>
            <a:off x="258835" y="3429001"/>
            <a:ext cx="2582718" cy="340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17"/>
              </a:lnSpc>
            </a:pPr>
            <a:r>
              <a:rPr sz="1400" b="1">
                <a:solidFill>
                  <a:srgbClr val="FFFFFF"/>
                </a:solidFill>
              </a:rPr>
              <a:t>Gender: </a:t>
            </a:r>
            <a:r>
              <a:rPr sz="1400" b="0">
                <a:solidFill>
                  <a:srgbClr val="FFFFFF"/>
                </a:solidFill>
              </a:rPr>
              <a:t>Female</a:t>
            </a:r>
            <a:endParaRPr lang="en-US" sz="1208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1" name="header_title">
            <a:extLst>
              <a:ext uri="{FF2B5EF4-FFF2-40B4-BE49-F238E27FC236}">
                <a16:creationId xmlns:a16="http://schemas.microsoft.com/office/drawing/2014/main" id="{5672671A-EAAB-453D-7B31-CF34F4052374}"/>
              </a:ext>
            </a:extLst>
          </p:cNvPr>
          <p:cNvSpPr/>
          <p:nvPr/>
        </p:nvSpPr>
        <p:spPr>
          <a:xfrm>
            <a:off x="80760" y="148261"/>
            <a:ext cx="12030482" cy="9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625"/>
              </a:lnSpc>
            </a:pPr>
            <a:r>
              <a:rPr sz="2400" b="1" dirty="0">
                <a:solidFill>
                  <a:srgbClr val="FFFFFF"/>
                </a:solidFill>
              </a:rPr>
              <a:t>Fractional CFO | Strategic Finance Executive</a:t>
            </a:r>
            <a:r>
              <a:rPr lang="ro-RO" sz="2400" b="1">
                <a:solidFill>
                  <a:srgbClr val="FFFFFF"/>
                </a:solidFill>
              </a:rPr>
              <a:t> (Alina M.)</a:t>
            </a:r>
            <a:endParaRPr lang="en-GB" sz="2400" dirty="0">
              <a:latin typeface="Georgia Pro" panose="02040502050405020303" pitchFamily="18" charset="0"/>
              <a:cs typeface="Prompt" pitchFamily="2" charset="-34"/>
            </a:endParaRPr>
          </a:p>
        </p:txBody>
      </p:sp>
      <p:sp>
        <p:nvSpPr>
          <p:cNvPr id="12" name="box1">
            <a:extLst>
              <a:ext uri="{FF2B5EF4-FFF2-40B4-BE49-F238E27FC236}">
                <a16:creationId xmlns:a16="http://schemas.microsoft.com/office/drawing/2014/main" id="{E37CE598-18E6-EF30-AFE1-DE4943A40AF8}"/>
              </a:ext>
            </a:extLst>
          </p:cNvPr>
          <p:cNvSpPr/>
          <p:nvPr/>
        </p:nvSpPr>
        <p:spPr>
          <a:xfrm>
            <a:off x="2986911" y="801713"/>
            <a:ext cx="340618" cy="340618"/>
          </a:xfrm>
          <a:prstGeom prst="roundRect">
            <a:avLst>
              <a:gd name="adj" fmla="val 18668"/>
            </a:avLst>
          </a:prstGeom>
          <a:solidFill>
            <a:srgbClr val="8957E6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RO" sz="1500"/>
          </a:p>
        </p:txBody>
      </p:sp>
      <p:sp>
        <p:nvSpPr>
          <p:cNvPr id="15" name="box2">
            <a:extLst>
              <a:ext uri="{FF2B5EF4-FFF2-40B4-BE49-F238E27FC236}">
                <a16:creationId xmlns:a16="http://schemas.microsoft.com/office/drawing/2014/main" id="{5977EF3B-18D5-4ED1-CB62-58CBC1375F5A}"/>
              </a:ext>
            </a:extLst>
          </p:cNvPr>
          <p:cNvSpPr/>
          <p:nvPr/>
        </p:nvSpPr>
        <p:spPr>
          <a:xfrm>
            <a:off x="2977732" y="2052946"/>
            <a:ext cx="340618" cy="340618"/>
          </a:xfrm>
          <a:prstGeom prst="roundRect">
            <a:avLst>
              <a:gd name="adj" fmla="val 18668"/>
            </a:avLst>
          </a:prstGeom>
          <a:solidFill>
            <a:srgbClr val="8957E6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RO" sz="1500" dirty="0"/>
          </a:p>
        </p:txBody>
      </p:sp>
      <p:sp>
        <p:nvSpPr>
          <p:cNvPr id="16" name="box3">
            <a:extLst>
              <a:ext uri="{FF2B5EF4-FFF2-40B4-BE49-F238E27FC236}">
                <a16:creationId xmlns:a16="http://schemas.microsoft.com/office/drawing/2014/main" id="{02BAB4B0-A8C4-9983-C9E4-5781B5849699}"/>
              </a:ext>
            </a:extLst>
          </p:cNvPr>
          <p:cNvSpPr/>
          <p:nvPr/>
        </p:nvSpPr>
        <p:spPr>
          <a:xfrm>
            <a:off x="2986790" y="3565339"/>
            <a:ext cx="340618" cy="340618"/>
          </a:xfrm>
          <a:prstGeom prst="roundRect">
            <a:avLst>
              <a:gd name="adj" fmla="val 18668"/>
            </a:avLst>
          </a:prstGeom>
          <a:solidFill>
            <a:srgbClr val="8957E6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RO" sz="1500"/>
          </a:p>
        </p:txBody>
      </p:sp>
      <p:sp>
        <p:nvSpPr>
          <p:cNvPr id="3" name="role_1">
            <a:extLst>
              <a:ext uri="{FF2B5EF4-FFF2-40B4-BE49-F238E27FC236}">
                <a16:creationId xmlns:a16="http://schemas.microsoft.com/office/drawing/2014/main" id="{0348D01A-7561-9506-E6C9-B7A9A5DDF9C7}"/>
              </a:ext>
            </a:extLst>
          </p:cNvPr>
          <p:cNvSpPr/>
          <p:nvPr/>
        </p:nvSpPr>
        <p:spPr>
          <a:xfrm>
            <a:off x="3417007" y="798892"/>
            <a:ext cx="8694234" cy="134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800" b="1">
                <a:solidFill>
                  <a:srgbClr val="FFFFFF"/>
                </a:solidFill>
              </a:rPr>
              <a:t>Fractional CFO and Systemic Coach – </a:t>
            </a:r>
            <a:r>
              <a:rPr sz="1200" b="0">
                <a:solidFill>
                  <a:srgbClr val="FFFFFF"/>
                </a:solidFill>
              </a:rPr>
              <a:t>Providing strategic financial leadership to diverse organizations.</a:t>
            </a:r>
          </a:p>
          <a:p>
            <a:r>
              <a:rPr sz="1400">
                <a:solidFill>
                  <a:srgbClr val="FFFFFF"/>
                </a:solidFill>
              </a:rPr>
              <a:t>-&gt; Delivered strategic financial leadership, optimizing processes and decision-making frameworks.</a:t>
            </a:r>
          </a:p>
          <a:p>
            <a:r>
              <a:rPr sz="1400">
                <a:solidFill>
                  <a:srgbClr val="FFFFFF"/>
                </a:solidFill>
              </a:rPr>
              <a:t>-&gt; Implemented robust budgeting, forecasting, and reporting systems, enhancing leadership capabilities.</a:t>
            </a:r>
          </a:p>
        </p:txBody>
      </p:sp>
      <p:sp>
        <p:nvSpPr>
          <p:cNvPr id="9" name="box5">
            <a:extLst>
              <a:ext uri="{FF2B5EF4-FFF2-40B4-BE49-F238E27FC236}">
                <a16:creationId xmlns:a16="http://schemas.microsoft.com/office/drawing/2014/main" id="{99C95464-DE1D-2DFB-C57E-02FCA95FDF4E}"/>
              </a:ext>
            </a:extLst>
          </p:cNvPr>
          <p:cNvSpPr/>
          <p:nvPr/>
        </p:nvSpPr>
        <p:spPr>
          <a:xfrm>
            <a:off x="2986790" y="6021630"/>
            <a:ext cx="340618" cy="340618"/>
          </a:xfrm>
          <a:prstGeom prst="roundRect">
            <a:avLst>
              <a:gd name="adj" fmla="val 18668"/>
            </a:avLst>
          </a:prstGeom>
          <a:solidFill>
            <a:srgbClr val="8957E6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RO" sz="1500"/>
          </a:p>
        </p:txBody>
      </p:sp>
      <p:sp>
        <p:nvSpPr>
          <p:cNvPr id="14" name="box4">
            <a:extLst>
              <a:ext uri="{FF2B5EF4-FFF2-40B4-BE49-F238E27FC236}">
                <a16:creationId xmlns:a16="http://schemas.microsoft.com/office/drawing/2014/main" id="{1EB53AFC-CDD1-D575-77A1-BC73D9BA1109}"/>
              </a:ext>
            </a:extLst>
          </p:cNvPr>
          <p:cNvSpPr/>
          <p:nvPr/>
        </p:nvSpPr>
        <p:spPr>
          <a:xfrm>
            <a:off x="2986790" y="4911560"/>
            <a:ext cx="340618" cy="340618"/>
          </a:xfrm>
          <a:prstGeom prst="roundRect">
            <a:avLst>
              <a:gd name="adj" fmla="val 18668"/>
            </a:avLst>
          </a:prstGeom>
          <a:solidFill>
            <a:srgbClr val="8957E6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RO" sz="1500"/>
          </a:p>
        </p:txBody>
      </p:sp>
      <p:sp>
        <p:nvSpPr>
          <p:cNvPr id="13" name="sidebar_sectors">
            <a:extLst>
              <a:ext uri="{FF2B5EF4-FFF2-40B4-BE49-F238E27FC236}">
                <a16:creationId xmlns:a16="http://schemas.microsoft.com/office/drawing/2014/main" id="{AEC5021E-B966-9FB5-B990-413F0C44A347}"/>
              </a:ext>
            </a:extLst>
          </p:cNvPr>
          <p:cNvSpPr/>
          <p:nvPr/>
        </p:nvSpPr>
        <p:spPr>
          <a:xfrm>
            <a:off x="258835" y="4760900"/>
            <a:ext cx="2582718" cy="823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17"/>
              </a:lnSpc>
            </a:pPr>
            <a:r>
              <a:rPr sz="1400" b="1">
                <a:solidFill>
                  <a:srgbClr val="FFFFFF"/>
                </a:solidFill>
              </a:rPr>
              <a:t>Sector Focus: </a:t>
            </a:r>
            <a:r>
              <a:rPr sz="1400" b="0">
                <a:solidFill>
                  <a:srgbClr val="FFFFFF"/>
                </a:solidFill>
              </a:rPr>
              <a:t>IT, Energy, Infrastructure, FMCG, Industrial</a:t>
            </a:r>
            <a:endParaRPr lang="en-US" sz="1208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7" name="sidebar_summary">
            <a:extLst>
              <a:ext uri="{FF2B5EF4-FFF2-40B4-BE49-F238E27FC236}">
                <a16:creationId xmlns:a16="http://schemas.microsoft.com/office/drawing/2014/main" id="{AF57C18E-AEDC-ACEE-2DEA-1ABDF3E9EB30}"/>
              </a:ext>
            </a:extLst>
          </p:cNvPr>
          <p:cNvSpPr/>
          <p:nvPr/>
        </p:nvSpPr>
        <p:spPr>
          <a:xfrm>
            <a:off x="258835" y="3837460"/>
            <a:ext cx="2582718" cy="823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17"/>
              </a:lnSpc>
            </a:pPr>
            <a:r>
              <a:rPr sz="1400" b="1">
                <a:solidFill>
                  <a:srgbClr val="FFFFFF"/>
                </a:solidFill>
              </a:rPr>
              <a:t>Experience: </a:t>
            </a:r>
            <a:r>
              <a:rPr sz="1400" b="0">
                <a:solidFill>
                  <a:srgbClr val="FFFFFF"/>
                </a:solidFill>
              </a:rPr>
              <a:t>20+ years executive leadership in diverse sectors, M&amp;A, financial transformation.</a:t>
            </a:r>
            <a:endParaRPr lang="en-US" sz="1208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9" name="sidebar_locations">
            <a:extLst>
              <a:ext uri="{FF2B5EF4-FFF2-40B4-BE49-F238E27FC236}">
                <a16:creationId xmlns:a16="http://schemas.microsoft.com/office/drawing/2014/main" id="{B330F590-B45F-B5D9-463F-77916846FF9B}"/>
              </a:ext>
            </a:extLst>
          </p:cNvPr>
          <p:cNvSpPr/>
          <p:nvPr/>
        </p:nvSpPr>
        <p:spPr>
          <a:xfrm>
            <a:off x="258835" y="5721356"/>
            <a:ext cx="2582718" cy="600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17"/>
              </a:lnSpc>
            </a:pPr>
            <a:r>
              <a:rPr lang="en-US" altLang="en-US" sz="1333" b="1" dirty="0">
                <a:latin typeface="Georgia Pro" panose="02040502050405020303" pitchFamily="18" charset="0"/>
                <a:cs typeface="Prompt" panose="00000500000000000000" pitchFamily="2" charset="-34"/>
              </a:rPr>
              <a:t>Location: </a:t>
            </a:r>
            <a:r>
              <a:rPr lang="en-GB" sz="1400" dirty="0"/>
              <a:t>Romania (Open to Remote/Hybrid)</a:t>
            </a:r>
            <a:br>
              <a:rPr lang="en-GB" sz="1333" dirty="0">
                <a:latin typeface="Prompt" pitchFamily="2" charset="-34"/>
                <a:cs typeface="Prompt" pitchFamily="2" charset="-34"/>
              </a:rPr>
            </a:br>
            <a:endParaRPr lang="en-US" sz="1208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21" name="role_2">
            <a:extLst>
              <a:ext uri="{FF2B5EF4-FFF2-40B4-BE49-F238E27FC236}">
                <a16:creationId xmlns:a16="http://schemas.microsoft.com/office/drawing/2014/main" id="{C9ACACDA-B754-A919-F010-FE8DE0A73F5A}"/>
              </a:ext>
            </a:extLst>
          </p:cNvPr>
          <p:cNvSpPr/>
          <p:nvPr/>
        </p:nvSpPr>
        <p:spPr>
          <a:xfrm>
            <a:off x="3426065" y="2080172"/>
            <a:ext cx="8694234" cy="1424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800" b="1">
                <a:solidFill>
                  <a:srgbClr val="FFFFFF"/>
                </a:solidFill>
              </a:rPr>
              <a:t>CFO, New Acquisition &amp; M&amp;A Manager – </a:t>
            </a:r>
            <a:r>
              <a:rPr sz="1200" b="0">
                <a:solidFill>
                  <a:srgbClr val="FFFFFF"/>
                </a:solidFill>
              </a:rPr>
              <a:t>Executive leading post-acquisition integration and M&amp;A strategy for a global resource management group.</a:t>
            </a:r>
          </a:p>
          <a:p>
            <a:r>
              <a:rPr sz="1400">
                <a:solidFill>
                  <a:srgbClr val="FFFFFF"/>
                </a:solidFill>
              </a:rPr>
              <a:t>-&gt; Successfully led post-acquisition integration, aligning finance processes and restructuring bank financing.</a:t>
            </a:r>
          </a:p>
          <a:p>
            <a:r>
              <a:rPr sz="1400">
                <a:solidFill>
                  <a:srgbClr val="FFFFFF"/>
                </a:solidFill>
              </a:rPr>
              <a:t>-&gt; Directed financial due diligence for potential acquisitions, ensuring strategic alignment and valuation accuracy.</a:t>
            </a:r>
          </a:p>
          <a:p>
            <a:r>
              <a:rPr sz="1400">
                <a:solidFill>
                  <a:srgbClr val="FFFFFF"/>
                </a:solidFill>
              </a:rPr>
              <a:t>-&gt; Provided critical finance leadership in M&amp;A workstreams, influencing transaction terms and governance.</a:t>
            </a:r>
          </a:p>
        </p:txBody>
      </p:sp>
      <p:sp>
        <p:nvSpPr>
          <p:cNvPr id="23" name="role_4">
            <a:extLst>
              <a:ext uri="{FF2B5EF4-FFF2-40B4-BE49-F238E27FC236}">
                <a16:creationId xmlns:a16="http://schemas.microsoft.com/office/drawing/2014/main" id="{69D2DA4B-AC12-B60A-C052-EEC1202CE222}"/>
              </a:ext>
            </a:extLst>
          </p:cNvPr>
          <p:cNvSpPr/>
          <p:nvPr/>
        </p:nvSpPr>
        <p:spPr>
          <a:xfrm>
            <a:off x="3497766" y="4928229"/>
            <a:ext cx="8694234" cy="1093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800" b="1">
                <a:solidFill>
                  <a:srgbClr val="FFFFFF"/>
                </a:solidFill>
              </a:rPr>
              <a:t>CFO – </a:t>
            </a:r>
            <a:r>
              <a:rPr sz="1200" b="0">
                <a:solidFill>
                  <a:srgbClr val="FFFFFF"/>
                </a:solidFill>
              </a:rPr>
              <a:t>Financial executive for an integrated manufacturing, wholesale, and retail group.</a:t>
            </a:r>
          </a:p>
          <a:p>
            <a:r>
              <a:rPr sz="1400">
                <a:solidFill>
                  <a:srgbClr val="FFFFFF"/>
                </a:solidFill>
              </a:rPr>
              <a:t>-&gt; Redesigned finance function and restructured a 35+ person team, boosting performance.</a:t>
            </a:r>
          </a:p>
          <a:p>
            <a:r>
              <a:rPr sz="1400">
                <a:solidFill>
                  <a:srgbClr val="FFFFFF"/>
                </a:solidFill>
              </a:rPr>
              <a:t>-&gt; Implemented comprehensive controlling, budgeting, and reporting across all operations.</a:t>
            </a:r>
          </a:p>
          <a:p>
            <a:r>
              <a:rPr sz="1400">
                <a:solidFill>
                  <a:srgbClr val="FFFFFF"/>
                </a:solidFill>
              </a:rPr>
              <a:t>-&gt; Directed ERP redesign, integrating cost-center structures for operational efficiency.</a:t>
            </a:r>
          </a:p>
        </p:txBody>
      </p:sp>
      <p:sp>
        <p:nvSpPr>
          <p:cNvPr id="25" name="role_3">
            <a:extLst>
              <a:ext uri="{FF2B5EF4-FFF2-40B4-BE49-F238E27FC236}">
                <a16:creationId xmlns:a16="http://schemas.microsoft.com/office/drawing/2014/main" id="{B3783BD2-130B-2AA0-0242-3F9E2367BB69}"/>
              </a:ext>
            </a:extLst>
          </p:cNvPr>
          <p:cNvSpPr/>
          <p:nvPr/>
        </p:nvSpPr>
        <p:spPr>
          <a:xfrm>
            <a:off x="3426065" y="3602898"/>
            <a:ext cx="8694234" cy="1159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800" b="1">
                <a:solidFill>
                  <a:srgbClr val="FFFFFF"/>
                </a:solidFill>
              </a:rPr>
              <a:t>Finance Director – </a:t>
            </a:r>
            <a:r>
              <a:rPr sz="1200" b="0">
                <a:solidFill>
                  <a:srgbClr val="FFFFFF"/>
                </a:solidFill>
              </a:rPr>
              <a:t>Senior finance leader at a technology and consulting group, driving growth and M&amp;A.</a:t>
            </a:r>
          </a:p>
          <a:p>
            <a:r>
              <a:rPr sz="1400">
                <a:solidFill>
                  <a:srgbClr val="FFFFFF"/>
                </a:solidFill>
              </a:rPr>
              <a:t>-&gt; Spearheaded financial due diligence and valuation for a successful M&amp;A exit.</a:t>
            </a:r>
          </a:p>
          <a:p>
            <a:r>
              <a:rPr sz="1400">
                <a:solidFill>
                  <a:srgbClr val="FFFFFF"/>
                </a:solidFill>
              </a:rPr>
              <a:t>-&gt; Reorganized finance processes to enable rapid growth and enhance cost efficiency.</a:t>
            </a:r>
          </a:p>
          <a:p>
            <a:r>
              <a:rPr sz="1400">
                <a:solidFill>
                  <a:srgbClr val="FFFFFF"/>
                </a:solidFill>
              </a:rPr>
              <a:t>-&gt; Established controlling, budgeting, and ERP implementation, improving reporting.</a:t>
            </a:r>
          </a:p>
        </p:txBody>
      </p:sp>
      <p:sp>
        <p:nvSpPr>
          <p:cNvPr id="26" name="footer_strengths">
            <a:extLst>
              <a:ext uri="{FF2B5EF4-FFF2-40B4-BE49-F238E27FC236}">
                <a16:creationId xmlns:a16="http://schemas.microsoft.com/office/drawing/2014/main" id="{E9D54F80-CE15-27D3-4050-07D872C7333E}"/>
              </a:ext>
            </a:extLst>
          </p:cNvPr>
          <p:cNvSpPr/>
          <p:nvPr/>
        </p:nvSpPr>
        <p:spPr>
          <a:xfrm>
            <a:off x="3497766" y="6021629"/>
            <a:ext cx="8694234" cy="131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400" b="1">
                <a:solidFill>
                  <a:srgbClr val="FFFFFF"/>
                </a:solidFill>
              </a:rPr>
              <a:t>Core Strengths:</a:t>
            </a:r>
            <a:endParaRPr lang="en-GB" sz="1400" dirty="0">
              <a:latin typeface="Georgia Pro" panose="02040502050405020303" pitchFamily="18" charset="0"/>
            </a:endParaRPr>
          </a:p>
          <a:p>
            <a:r>
              <a:rPr sz="1400">
                <a:solidFill>
                  <a:srgbClr val="FFFFFF"/>
                </a:solidFill>
              </a:rPr>
              <a:t>-&gt; M&amp;A &amp; Post-Acquisition Integration, Financial Planning &amp; Analysis</a:t>
            </a:r>
          </a:p>
          <a:p>
            <a:r>
              <a:rPr sz="1400">
                <a:solidFill>
                  <a:srgbClr val="FFFFFF"/>
                </a:solidFill>
              </a:rPr>
              <a:t>-&gt; ERP &amp; Finance Transformation, Leadership &amp; Team Development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6909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COLUMNGUIDE" val="Visible"/>
  <p:tag name="MEKKOFORMATS" val="&lt;MekkoFormats&gt;&lt;NumberFormat DecimalSeparator=&quot;,&quot; ThousandSeparator=&quot;.&quot; NegativeNumberFormat=&quot;1&quot; /&gt;&lt;DateFormat CultureID=&quot;1033&quot; FormatString=&quot;M/d/yyyy&quot; /&gt;&lt;Font&gt;&lt;Output_Font_Name Default=&quot;Arial&quot; UsePPTTheme=&quot;True&quot; /&gt;&lt;/Font&gt;&lt;/MekkoFormats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1"/>
</p:tagLst>
</file>

<file path=ppt/theme/theme1.xml><?xml version="1.0" encoding="utf-8"?>
<a:theme xmlns:a="http://schemas.openxmlformats.org/drawingml/2006/main" name="Office Theme">
  <a:themeElements>
    <a:clrScheme name="Custom 1">
      <a:dk1>
        <a:srgbClr val="FFFFFF"/>
      </a:dk1>
      <a:lt1>
        <a:srgbClr val="1A1124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8890B46-A3D7-460D-8DCD-70181782F4BF}">
  <we:reference id="70ed8778-2a1c-4697-8cf0-5cf67c93b7b6" version="2.2.2.14" store="EXCatalog" storeType="EXCatalog"/>
  <we:alternateReferences/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2879</TotalTime>
  <Words>309</Words>
  <Application>Microsoft Macintosh PowerPoint</Application>
  <PresentationFormat>Widescreen</PresentationFormat>
  <Paragraphs>23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Georgia Pro</vt:lpstr>
      <vt:lpstr>Prompt</vt:lpstr>
      <vt:lpstr>Office Theme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 Toader</dc:creator>
  <cp:lastModifiedBy>Alexandru Tudor</cp:lastModifiedBy>
  <cp:revision>58</cp:revision>
  <dcterms:created xsi:type="dcterms:W3CDTF">2025-07-29T10:15:29Z</dcterms:created>
  <dcterms:modified xsi:type="dcterms:W3CDTF">2026-01-28T07:53:42Z</dcterms:modified>
</cp:coreProperties>
</file>