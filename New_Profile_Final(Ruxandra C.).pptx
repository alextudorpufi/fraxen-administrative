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custDataLst>
    <p:tags r:id="rId4"/>
  </p:custDataLst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FF"/>
    <a:srgbClr val="FF00FF"/>
    <a:srgbClr val="555C61"/>
    <a:srgbClr val="F0DB3C"/>
    <a:srgbClr val="F5E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93810"/>
  </p:normalViewPr>
  <p:slideViewPr>
    <p:cSldViewPr snapToGrid="0">
      <p:cViewPr varScale="1">
        <p:scale>
          <a:sx n="120" d="100"/>
          <a:sy n="120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60D-82BB-144B-97B4-7BF677FF55AA}" type="datetimeFigureOut">
              <a:rPr lang="en-RO" smtClean="0"/>
              <a:t>16.03.2026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48FC-C7BB-384C-95A9-84F198553CD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43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F187-A6F1-DC8A-478A-727EF11B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FF48-2279-5649-15C7-F913ABD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1205-F47E-5F72-2029-9B22E2D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805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553-1C5A-8B03-658F-826D417A5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625E-4F75-60B7-90C5-FDD9F50C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B39A-5CC0-D665-6E2D-DC6F58CF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841-F512-8DEE-5B86-07597DB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15F5-B035-C57A-490F-12CBAE90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737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B5C-75FE-F97F-5380-4AB3D01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1331-0453-5C8D-5197-41AB883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773E-BB4D-87B3-0D07-23554AD1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28F5-252A-3CA1-739D-E1A00062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049F-BD58-B9B1-F2B0-7B3C1E5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303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8436-3E6B-8032-3A99-7B35F40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F47-A34E-7FC3-7CC1-CF91F7D8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E646-5390-602E-D26E-1A03CD36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0599-4688-4A37-DBEB-EB5F536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05E0-C4B1-1018-0E4C-8ECECA0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20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E8D-6B66-9A04-3ADE-1A42CF7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74-E366-70E9-7544-A6D65C0B9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E48C-6CB8-6D52-AC5D-D094374D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662CB-458D-6188-B250-A6C8A11D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87D0C-4F07-A0EC-3DD8-BBA3EB0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AF1C7-69ED-A711-65AB-3653F92D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996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31D-8158-372B-78D2-A1651DF6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739B-E0B9-ACF8-C98A-581EB27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DBAA-1BB5-B5FC-FC39-076FECAB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ED9E-3799-5B54-3286-EF042474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4CEA9-3D21-CBF2-FFBB-CAAF40CC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DB6-054D-6E52-8F8F-67A1665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8D5CB-DED2-9CB9-12EA-6E862B0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6E0B-C174-507A-55F8-1A698B7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860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6935-1995-DC3C-542C-7C3E45FC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68772-7473-5C1A-CA91-48C531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E95D2-E30A-C2C6-4359-636576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94D29-9CCC-4139-F0CF-E94A8EB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55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E392B-98FF-217D-A6E7-D0648EEC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AB1-686D-25E0-B593-1C6EED4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DA7-5CFC-4447-212C-E464DE4D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90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28C2-C28D-8B3E-7D6B-401EE68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D8EA-8E98-28DD-22EF-85FAAA5F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2D83E-B5BD-9949-12AA-6690C0E0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A0846-E676-DA6D-4006-2DE52B26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8CA-E637-0367-EA6C-F910573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D99C-EDBC-AE85-78CF-9FC4DAE7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862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67F2-54D5-B5F0-B3C8-BC7ACA4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2E127-C4A1-D643-0609-76545673F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A2CAF-7A52-DD7C-F563-A6480407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2CFA-F159-DC5E-B189-517E6608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0BDB-2308-81D4-16B2-DCD1420E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84D-2A58-BA32-9CD6-D6857152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66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9163-5078-5F22-1DE2-BEC491DF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0EC7-463B-ACB3-628A-27A43F2B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5452-A479-7220-0573-5D2803BD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6D9E-E962-BBCC-4797-B6DA8A89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1658-03F9-5EDC-CB5B-B8D7EE9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8830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9F2D-FDFD-5168-3D40-2B49E977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37E4-A0BC-CB91-226F-B8F5AFE4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5259-45B1-A736-3FC4-443756CF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61E5-DFAB-D8C9-6832-1AB17BCC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29E4-1988-5374-21BF-75EAB62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135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875F55-A5D6-667B-C015-6E654AB3A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523223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06" imgH="608" progId="TCLayout.ActiveDocument.1">
                  <p:embed/>
                </p:oleObj>
              </mc:Choice>
              <mc:Fallback>
                <p:oleObj name="think-cell Slide" r:id="rId1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75F55-A5D6-667B-C015-6E654AB3A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123E-5EEE-E888-DDAA-C724AFE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6D98-2099-EB19-855E-853CD5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E592-8F2C-884A-3ED4-DDE78B797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BDA6-A985-C67A-6686-2FAEB20F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1AE-5DB8-DF77-631C-7FB87FC5D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174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 userDrawn="1">
          <p15:clr>
            <a:srgbClr val="F26B43"/>
          </p15:clr>
        </p15:guide>
        <p15:guide id="2" orient="horz" pos="1087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156B-ADD1-7558-51F3-86AF355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file_gender">
            <a:extLst>
              <a:ext uri="{FF2B5EF4-FFF2-40B4-BE49-F238E27FC236}">
                <a16:creationId xmlns:a16="http://schemas.microsoft.com/office/drawing/2014/main" id="{7F264C95-5E23-B94D-7711-4FEFD95A4FEB}"/>
              </a:ext>
            </a:extLst>
          </p:cNvPr>
          <p:cNvGrpSpPr/>
          <p:nvPr/>
        </p:nvGrpSpPr>
        <p:grpSpPr>
          <a:xfrm>
            <a:off x="419100" y="972022"/>
            <a:ext cx="2262188" cy="2262188"/>
            <a:chOff x="622697" y="1148579"/>
            <a:chExt cx="2714625" cy="2714625"/>
          </a:xfrm>
          <a:solidFill>
            <a:srgbClr val="894EFF"/>
          </a:solidFill>
        </p:grpSpPr>
        <p:sp>
          <p:nvSpPr>
            <p:cNvPr id="5" name="profile_gender_3">
              <a:extLst>
                <a:ext uri="{FF2B5EF4-FFF2-40B4-BE49-F238E27FC236}">
                  <a16:creationId xmlns:a16="http://schemas.microsoft.com/office/drawing/2014/main" id="{D8DF3F6B-5793-CC30-93D9-AF16F7C0288B}"/>
                </a:ext>
              </a:extLst>
            </p:cNvPr>
            <p:cNvSpPr/>
            <p:nvPr/>
          </p:nvSpPr>
          <p:spPr>
            <a:xfrm>
              <a:off x="622697" y="1148579"/>
              <a:ext cx="2714625" cy="2714625"/>
            </a:xfrm>
            <a:custGeom>
              <a:avLst/>
              <a:gdLst>
                <a:gd name="connsiteX0" fmla="*/ 2714625 w 2714625"/>
                <a:gd name="connsiteY0" fmla="*/ 1357313 h 2714625"/>
                <a:gd name="connsiteX1" fmla="*/ 1357313 w 2714625"/>
                <a:gd name="connsiteY1" fmla="*/ 2714625 h 2714625"/>
                <a:gd name="connsiteX2" fmla="*/ 0 w 2714625"/>
                <a:gd name="connsiteY2" fmla="*/ 1357313 h 2714625"/>
                <a:gd name="connsiteX3" fmla="*/ 1357313 w 2714625"/>
                <a:gd name="connsiteY3" fmla="*/ 0 h 2714625"/>
                <a:gd name="connsiteX4" fmla="*/ 2714625 w 2714625"/>
                <a:gd name="connsiteY4" fmla="*/ 1357313 h 2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5" h="2714625">
                  <a:moveTo>
                    <a:pt x="2714625" y="1357313"/>
                  </a:moveTo>
                  <a:cubicBezTo>
                    <a:pt x="2714625" y="2106936"/>
                    <a:pt x="2106936" y="2714625"/>
                    <a:pt x="1357313" y="2714625"/>
                  </a:cubicBezTo>
                  <a:cubicBezTo>
                    <a:pt x="607690" y="2714625"/>
                    <a:pt x="0" y="2106936"/>
                    <a:pt x="0" y="1357313"/>
                  </a:cubicBezTo>
                  <a:cubicBezTo>
                    <a:pt x="0" y="607690"/>
                    <a:pt x="607690" y="0"/>
                    <a:pt x="1357313" y="0"/>
                  </a:cubicBezTo>
                  <a:cubicBezTo>
                    <a:pt x="2106936" y="0"/>
                    <a:pt x="2714625" y="607690"/>
                    <a:pt x="2714625" y="1357313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profile_gender_2">
              <a:extLst>
                <a:ext uri="{FF2B5EF4-FFF2-40B4-BE49-F238E27FC236}">
                  <a16:creationId xmlns:a16="http://schemas.microsoft.com/office/drawing/2014/main" id="{E2842A19-E9A6-F8AC-9692-66B4510107BF}"/>
                </a:ext>
              </a:extLst>
            </p:cNvPr>
            <p:cNvSpPr/>
            <p:nvPr/>
          </p:nvSpPr>
          <p:spPr>
            <a:xfrm>
              <a:off x="1075135" y="2596379"/>
              <a:ext cx="1809750" cy="904875"/>
            </a:xfrm>
            <a:custGeom>
              <a:avLst/>
              <a:gdLst>
                <a:gd name="connsiteX0" fmla="*/ 1809750 w 1809750"/>
                <a:gd name="connsiteY0" fmla="*/ 904875 h 904875"/>
                <a:gd name="connsiteX1" fmla="*/ 1809750 w 1809750"/>
                <a:gd name="connsiteY1" fmla="*/ 904875 h 904875"/>
                <a:gd name="connsiteX2" fmla="*/ 904875 w 1809750"/>
                <a:gd name="connsiteY2" fmla="*/ 0 h 904875"/>
                <a:gd name="connsiteX3" fmla="*/ 904875 w 1809750"/>
                <a:gd name="connsiteY3" fmla="*/ 0 h 904875"/>
                <a:gd name="connsiteX4" fmla="*/ 0 w 1809750"/>
                <a:gd name="connsiteY4" fmla="*/ 904875 h 904875"/>
                <a:gd name="connsiteX5" fmla="*/ 0 w 1809750"/>
                <a:gd name="connsiteY5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0" h="904875">
                  <a:moveTo>
                    <a:pt x="1809750" y="904875"/>
                  </a:moveTo>
                  <a:lnTo>
                    <a:pt x="1809750" y="904875"/>
                  </a:lnTo>
                  <a:cubicBezTo>
                    <a:pt x="1809750" y="405112"/>
                    <a:pt x="1404638" y="0"/>
                    <a:pt x="904875" y="0"/>
                  </a:cubicBezTo>
                  <a:lnTo>
                    <a:pt x="904875" y="0"/>
                  </a:lnTo>
                  <a:cubicBezTo>
                    <a:pt x="405113" y="0"/>
                    <a:pt x="0" y="405112"/>
                    <a:pt x="0" y="904875"/>
                  </a:cubicBezTo>
                  <a:lnTo>
                    <a:pt x="0" y="904875"/>
                  </a:lnTo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profile_gender_1">
              <a:extLst>
                <a:ext uri="{FF2B5EF4-FFF2-40B4-BE49-F238E27FC236}">
                  <a16:creationId xmlns:a16="http://schemas.microsoft.com/office/drawing/2014/main" id="{B5C90188-9EA8-04E6-EBAB-10F8993BBFDF}"/>
                </a:ext>
              </a:extLst>
            </p:cNvPr>
            <p:cNvSpPr/>
            <p:nvPr/>
          </p:nvSpPr>
          <p:spPr>
            <a:xfrm>
              <a:off x="1437085" y="1510529"/>
              <a:ext cx="1085850" cy="1085850"/>
            </a:xfrm>
            <a:custGeom>
              <a:avLst/>
              <a:gdLst>
                <a:gd name="connsiteX0" fmla="*/ 1085850 w 1085850"/>
                <a:gd name="connsiteY0" fmla="*/ 542925 h 1085850"/>
                <a:gd name="connsiteX1" fmla="*/ 542925 w 1085850"/>
                <a:gd name="connsiteY1" fmla="*/ 1085850 h 1085850"/>
                <a:gd name="connsiteX2" fmla="*/ 0 w 1085850"/>
                <a:gd name="connsiteY2" fmla="*/ 542925 h 1085850"/>
                <a:gd name="connsiteX3" fmla="*/ 542925 w 1085850"/>
                <a:gd name="connsiteY3" fmla="*/ 0 h 1085850"/>
                <a:gd name="connsiteX4" fmla="*/ 1085850 w 1085850"/>
                <a:gd name="connsiteY4" fmla="*/ 542925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1085850">
                  <a:moveTo>
                    <a:pt x="1085850" y="542925"/>
                  </a:moveTo>
                  <a:cubicBezTo>
                    <a:pt x="1085850" y="842774"/>
                    <a:pt x="842774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ubicBezTo>
                    <a:pt x="842774" y="0"/>
                    <a:pt x="1085850" y="243076"/>
                    <a:pt x="1085850" y="542925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sidebar_gender">
            <a:extLst>
              <a:ext uri="{FF2B5EF4-FFF2-40B4-BE49-F238E27FC236}">
                <a16:creationId xmlns:a16="http://schemas.microsoft.com/office/drawing/2014/main" id="{4DF7A243-42A9-3A03-CA12-371DFF1D471F}"/>
              </a:ext>
            </a:extLst>
          </p:cNvPr>
          <p:cNvSpPr/>
          <p:nvPr/>
        </p:nvSpPr>
        <p:spPr>
          <a:xfrm>
            <a:off x="258835" y="3429001"/>
            <a:ext cx="2582718" cy="34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>
                <a:solidFill>
                  <a:srgbClr val="FFFFFF"/>
                </a:solidFill>
              </a:rPr>
              <a:t>Gender: </a:t>
            </a:r>
            <a:r>
              <a:rPr sz="1400" b="0">
                <a:solidFill>
                  <a:srgbClr val="FFFFFF"/>
                </a:solidFill>
              </a:rPr>
              <a:t>Female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header_title">
            <a:extLst>
              <a:ext uri="{FF2B5EF4-FFF2-40B4-BE49-F238E27FC236}">
                <a16:creationId xmlns:a16="http://schemas.microsoft.com/office/drawing/2014/main" id="{5672671A-EAAB-453D-7B31-CF34F4052374}"/>
              </a:ext>
            </a:extLst>
          </p:cNvPr>
          <p:cNvSpPr/>
          <p:nvPr/>
        </p:nvSpPr>
        <p:spPr>
          <a:xfrm>
            <a:off x="80760" y="148261"/>
            <a:ext cx="12030482" cy="9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25"/>
              </a:lnSpc>
            </a:pPr>
            <a:r>
              <a:rPr sz="2400" b="1" dirty="0">
                <a:solidFill>
                  <a:srgbClr val="FFFFFF"/>
                </a:solidFill>
              </a:rPr>
              <a:t>Fractional CFO | Strategic Financial Leader</a:t>
            </a:r>
            <a:r>
              <a:rPr lang="en-US" sz="2400" b="1">
                <a:solidFill>
                  <a:srgbClr val="FFFFFF"/>
                </a:solidFill>
              </a:rPr>
              <a:t>( Ruxandra C. )</a:t>
            </a:r>
          </a:p>
          <a:p>
            <a:pPr algn="ctr">
              <a:lnSpc>
                <a:spcPts val="3625"/>
              </a:lnSpc>
            </a:pPr>
            <a:endParaRPr lang="en-GB" sz="2400" dirty="0">
              <a:latin typeface="Georgia Pro" panose="02040502050405020303" pitchFamily="18" charset="0"/>
              <a:cs typeface="Prompt" pitchFamily="2" charset="-34"/>
            </a:endParaRPr>
          </a:p>
        </p:txBody>
      </p:sp>
      <p:sp>
        <p:nvSpPr>
          <p:cNvPr id="12" name="box1">
            <a:extLst>
              <a:ext uri="{FF2B5EF4-FFF2-40B4-BE49-F238E27FC236}">
                <a16:creationId xmlns:a16="http://schemas.microsoft.com/office/drawing/2014/main" id="{E37CE598-18E6-EF30-AFE1-DE4943A40AF8}"/>
              </a:ext>
            </a:extLst>
          </p:cNvPr>
          <p:cNvSpPr/>
          <p:nvPr/>
        </p:nvSpPr>
        <p:spPr>
          <a:xfrm>
            <a:off x="2986911" y="801713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5" name="box2">
            <a:extLst>
              <a:ext uri="{FF2B5EF4-FFF2-40B4-BE49-F238E27FC236}">
                <a16:creationId xmlns:a16="http://schemas.microsoft.com/office/drawing/2014/main" id="{5977EF3B-18D5-4ED1-CB62-58CBC1375F5A}"/>
              </a:ext>
            </a:extLst>
          </p:cNvPr>
          <p:cNvSpPr/>
          <p:nvPr/>
        </p:nvSpPr>
        <p:spPr>
          <a:xfrm>
            <a:off x="2977732" y="205294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 dirty="0"/>
          </a:p>
        </p:txBody>
      </p:sp>
      <p:sp>
        <p:nvSpPr>
          <p:cNvPr id="16" name="box3">
            <a:extLst>
              <a:ext uri="{FF2B5EF4-FFF2-40B4-BE49-F238E27FC236}">
                <a16:creationId xmlns:a16="http://schemas.microsoft.com/office/drawing/2014/main" id="{02BAB4B0-A8C4-9983-C9E4-5781B5849699}"/>
              </a:ext>
            </a:extLst>
          </p:cNvPr>
          <p:cNvSpPr/>
          <p:nvPr/>
        </p:nvSpPr>
        <p:spPr>
          <a:xfrm>
            <a:off x="2986790" y="342312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3" name="role_1">
            <a:extLst>
              <a:ext uri="{FF2B5EF4-FFF2-40B4-BE49-F238E27FC236}">
                <a16:creationId xmlns:a16="http://schemas.microsoft.com/office/drawing/2014/main" id="{0348D01A-7561-9506-E6C9-B7A9A5DDF9C7}"/>
              </a:ext>
            </a:extLst>
          </p:cNvPr>
          <p:cNvSpPr/>
          <p:nvPr/>
        </p:nvSpPr>
        <p:spPr>
          <a:xfrm>
            <a:off x="3417007" y="798892"/>
            <a:ext cx="8694234" cy="134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Fractional CFO &amp; Investment Advisor – </a:t>
            </a:r>
            <a:r>
              <a:rPr sz="1200" b="0">
                <a:solidFill>
                  <a:srgbClr val="FFFFFF"/>
                </a:solidFill>
              </a:rPr>
              <a:t>Empowering high-growth tech startups and institutional investors with strategic financial leadership.</a:t>
            </a:r>
          </a:p>
          <a:p>
            <a:r>
              <a:rPr sz="1400">
                <a:solidFill>
                  <a:srgbClr val="FFFFFF"/>
                </a:solidFill>
              </a:rPr>
              <a:t>-&gt; Successfully prepared and supported multiple fundraising rounds, accelerating due diligence.</a:t>
            </a:r>
          </a:p>
          <a:p>
            <a:r>
              <a:rPr sz="1400">
                <a:solidFill>
                  <a:srgbClr val="FFFFFF"/>
                </a:solidFill>
              </a:rPr>
              <a:t>-&gt; Led finance transformation projects, integrating ERP systems and AI automation.</a:t>
            </a:r>
          </a:p>
          <a:p>
            <a:r>
              <a:rPr sz="1400">
                <a:solidFill>
                  <a:srgbClr val="FFFFFF"/>
                </a:solidFill>
              </a:rPr>
              <a:t>-&gt; Provided M&amp;A advisory, valuations, and transaction management.</a:t>
            </a:r>
          </a:p>
        </p:txBody>
      </p:sp>
      <p:sp>
        <p:nvSpPr>
          <p:cNvPr id="9" name="box5">
            <a:extLst>
              <a:ext uri="{FF2B5EF4-FFF2-40B4-BE49-F238E27FC236}">
                <a16:creationId xmlns:a16="http://schemas.microsoft.com/office/drawing/2014/main" id="{99C95464-DE1D-2DFB-C57E-02FCA95FDF4E}"/>
              </a:ext>
            </a:extLst>
          </p:cNvPr>
          <p:cNvSpPr/>
          <p:nvPr/>
        </p:nvSpPr>
        <p:spPr>
          <a:xfrm>
            <a:off x="2986790" y="602163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4" name="box4">
            <a:extLst>
              <a:ext uri="{FF2B5EF4-FFF2-40B4-BE49-F238E27FC236}">
                <a16:creationId xmlns:a16="http://schemas.microsoft.com/office/drawing/2014/main" id="{1EB53AFC-CDD1-D575-77A1-BC73D9BA1109}"/>
              </a:ext>
            </a:extLst>
          </p:cNvPr>
          <p:cNvSpPr/>
          <p:nvPr/>
        </p:nvSpPr>
        <p:spPr>
          <a:xfrm>
            <a:off x="2986790" y="491156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3" name="sidebar_sectors">
            <a:extLst>
              <a:ext uri="{FF2B5EF4-FFF2-40B4-BE49-F238E27FC236}">
                <a16:creationId xmlns:a16="http://schemas.microsoft.com/office/drawing/2014/main" id="{AEC5021E-B966-9FB5-B990-413F0C44A347}"/>
              </a:ext>
            </a:extLst>
          </p:cNvPr>
          <p:cNvSpPr/>
          <p:nvPr/>
        </p:nvSpPr>
        <p:spPr>
          <a:xfrm>
            <a:off x="258835" y="4760900"/>
            <a:ext cx="2582718" cy="82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 dirty="0">
                <a:solidFill>
                  <a:srgbClr val="FFFFFF"/>
                </a:solidFill>
              </a:rPr>
              <a:t>Sector Focus: </a:t>
            </a:r>
            <a:r>
              <a:rPr sz="1400" b="0" dirty="0">
                <a:solidFill>
                  <a:srgbClr val="FFFFFF"/>
                </a:solidFill>
              </a:rPr>
              <a:t>Technology, Real Estate, Multi-entity Organizations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sidebar_summary">
            <a:extLst>
              <a:ext uri="{FF2B5EF4-FFF2-40B4-BE49-F238E27FC236}">
                <a16:creationId xmlns:a16="http://schemas.microsoft.com/office/drawing/2014/main" id="{AF57C18E-AEDC-ACEE-2DEA-1ABDF3E9EB30}"/>
              </a:ext>
            </a:extLst>
          </p:cNvPr>
          <p:cNvSpPr/>
          <p:nvPr/>
        </p:nvSpPr>
        <p:spPr>
          <a:xfrm>
            <a:off x="258835" y="3837460"/>
            <a:ext cx="2582718" cy="8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>
                <a:solidFill>
                  <a:srgbClr val="FFFFFF"/>
                </a:solidFill>
              </a:rPr>
              <a:t>Experience: </a:t>
            </a:r>
            <a:r>
              <a:rPr sz="1400" b="0">
                <a:solidFill>
                  <a:srgbClr val="FFFFFF"/>
                </a:solidFill>
              </a:rPr>
              <a:t>20+ years, strategic financial leadership across diverse industries.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sidebar_locations">
            <a:extLst>
              <a:ext uri="{FF2B5EF4-FFF2-40B4-BE49-F238E27FC236}">
                <a16:creationId xmlns:a16="http://schemas.microsoft.com/office/drawing/2014/main" id="{B330F590-B45F-B5D9-463F-77916846FF9B}"/>
              </a:ext>
            </a:extLst>
          </p:cNvPr>
          <p:cNvSpPr/>
          <p:nvPr/>
        </p:nvSpPr>
        <p:spPr>
          <a:xfrm>
            <a:off x="258835" y="5721356"/>
            <a:ext cx="2582718" cy="60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alt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Location: </a:t>
            </a:r>
            <a:r>
              <a:rPr lang="en-GB" sz="1400" dirty="0"/>
              <a:t>Romania (Open to Remote/Hybrid)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le_2">
            <a:extLst>
              <a:ext uri="{FF2B5EF4-FFF2-40B4-BE49-F238E27FC236}">
                <a16:creationId xmlns:a16="http://schemas.microsoft.com/office/drawing/2014/main" id="{C9ACACDA-B754-A919-F010-FE8DE0A73F5A}"/>
              </a:ext>
            </a:extLst>
          </p:cNvPr>
          <p:cNvSpPr/>
          <p:nvPr/>
        </p:nvSpPr>
        <p:spPr>
          <a:xfrm>
            <a:off x="3426065" y="2080172"/>
            <a:ext cx="8694234" cy="142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Chief Financial Officer – </a:t>
            </a:r>
            <a:r>
              <a:rPr sz="1200" b="0">
                <a:solidFill>
                  <a:srgbClr val="FFFFFF"/>
                </a:solidFill>
              </a:rPr>
              <a:t>Orchestrated financial strategy for a significant real estate development and logistics portfolio.</a:t>
            </a:r>
          </a:p>
          <a:p>
            <a:r>
              <a:rPr sz="1400">
                <a:solidFill>
                  <a:srgbClr val="FFFFFF"/>
                </a:solidFill>
              </a:rPr>
              <a:t>-&gt; Structured finance organization for a EUR 250M+ development portfolio.</a:t>
            </a:r>
          </a:p>
          <a:p>
            <a:r>
              <a:rPr sz="1400">
                <a:solidFill>
                  <a:srgbClr val="FFFFFF"/>
                </a:solidFill>
              </a:rPr>
              <a:t>-&gt; Built multi-project forecasting and cash flow coordination across complex operations.</a:t>
            </a:r>
          </a:p>
          <a:p>
            <a:r>
              <a:rPr sz="1400">
                <a:solidFill>
                  <a:srgbClr val="FFFFFF"/>
                </a:solidFill>
              </a:rPr>
              <a:t>-&gt; Introduced ERP-based project control and reporting for end-to-end visibility.</a:t>
            </a:r>
          </a:p>
        </p:txBody>
      </p:sp>
      <p:sp>
        <p:nvSpPr>
          <p:cNvPr id="23" name="role_4">
            <a:extLst>
              <a:ext uri="{FF2B5EF4-FFF2-40B4-BE49-F238E27FC236}">
                <a16:creationId xmlns:a16="http://schemas.microsoft.com/office/drawing/2014/main" id="{69D2DA4B-AC12-B60A-C052-EEC1202CE222}"/>
              </a:ext>
            </a:extLst>
          </p:cNvPr>
          <p:cNvSpPr/>
          <p:nvPr/>
        </p:nvSpPr>
        <p:spPr>
          <a:xfrm>
            <a:off x="3497766" y="4928229"/>
            <a:ext cx="8694234" cy="109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 dirty="0">
                <a:solidFill>
                  <a:srgbClr val="FFFFFF"/>
                </a:solidFill>
              </a:rPr>
              <a:t>Managing Director / CFO – </a:t>
            </a:r>
            <a:r>
              <a:rPr sz="1200" b="0" dirty="0">
                <a:solidFill>
                  <a:srgbClr val="FFFFFF"/>
                </a:solidFill>
              </a:rPr>
              <a:t>Pioneered and led a regional real estate investment platform from its inception.</a:t>
            </a:r>
          </a:p>
          <a:p>
            <a:r>
              <a:rPr sz="1400" dirty="0">
                <a:solidFill>
                  <a:srgbClr val="FFFFFF"/>
                </a:solidFill>
              </a:rPr>
              <a:t>-&gt; Built a regional real estate investment platform from inception, managing multiple entities.</a:t>
            </a:r>
          </a:p>
          <a:p>
            <a:r>
              <a:rPr sz="1400" dirty="0">
                <a:solidFill>
                  <a:srgbClr val="FFFFFF"/>
                </a:solidFill>
              </a:rPr>
              <a:t>-&gt; Negotiated complex credit restructurings and optimized group cash flow.</a:t>
            </a:r>
          </a:p>
          <a:p>
            <a:r>
              <a:rPr sz="1400" dirty="0">
                <a:solidFill>
                  <a:srgbClr val="FFFFFF"/>
                </a:solidFill>
              </a:rPr>
              <a:t>-&gt; Implemented robust ERP and transfer pricing frameworks for accurate multi-entity reporting.</a:t>
            </a:r>
          </a:p>
        </p:txBody>
      </p:sp>
      <p:sp>
        <p:nvSpPr>
          <p:cNvPr id="25" name="role_3">
            <a:extLst>
              <a:ext uri="{FF2B5EF4-FFF2-40B4-BE49-F238E27FC236}">
                <a16:creationId xmlns:a16="http://schemas.microsoft.com/office/drawing/2014/main" id="{B3783BD2-130B-2AA0-0242-3F9E2367BB69}"/>
              </a:ext>
            </a:extLst>
          </p:cNvPr>
          <p:cNvSpPr/>
          <p:nvPr/>
        </p:nvSpPr>
        <p:spPr>
          <a:xfrm>
            <a:off x="3426065" y="3460685"/>
            <a:ext cx="8694234" cy="115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 dirty="0">
                <a:solidFill>
                  <a:srgbClr val="FFFFFF"/>
                </a:solidFill>
              </a:rPr>
              <a:t>Group Chief Financial Officer – </a:t>
            </a:r>
            <a:r>
              <a:rPr sz="1200" b="0" dirty="0">
                <a:solidFill>
                  <a:srgbClr val="FFFFFF"/>
                </a:solidFill>
              </a:rPr>
              <a:t>Centralized and optimized finance operations for a multi-entity technology and SaaS group.</a:t>
            </a:r>
          </a:p>
          <a:p>
            <a:r>
              <a:rPr sz="1400" dirty="0">
                <a:solidFill>
                  <a:srgbClr val="FFFFFF"/>
                </a:solidFill>
              </a:rPr>
              <a:t>-&gt; Centralized finance operations for a multi-entity tech group with cross-functional reporting.</a:t>
            </a:r>
          </a:p>
          <a:p>
            <a:r>
              <a:rPr sz="1400" dirty="0">
                <a:solidFill>
                  <a:srgbClr val="FFFFFF"/>
                </a:solidFill>
              </a:rPr>
              <a:t>-&gt; Implemented ERP systems with profitability tracking by client and product line.</a:t>
            </a:r>
          </a:p>
          <a:p>
            <a:r>
              <a:rPr sz="1400" dirty="0">
                <a:solidFill>
                  <a:srgbClr val="FFFFFF"/>
                </a:solidFill>
              </a:rPr>
              <a:t>-&gt; Developed performance dashboards linking operational efficiency with profitability metrics.</a:t>
            </a:r>
          </a:p>
        </p:txBody>
      </p:sp>
      <p:sp>
        <p:nvSpPr>
          <p:cNvPr id="26" name="footer_strengths">
            <a:extLst>
              <a:ext uri="{FF2B5EF4-FFF2-40B4-BE49-F238E27FC236}">
                <a16:creationId xmlns:a16="http://schemas.microsoft.com/office/drawing/2014/main" id="{E9D54F80-CE15-27D3-4050-07D872C7333E}"/>
              </a:ext>
            </a:extLst>
          </p:cNvPr>
          <p:cNvSpPr/>
          <p:nvPr/>
        </p:nvSpPr>
        <p:spPr>
          <a:xfrm>
            <a:off x="3497766" y="6021629"/>
            <a:ext cx="8694234" cy="131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FFFFFF"/>
                </a:solidFill>
              </a:rPr>
              <a:t>Core Strengths:</a:t>
            </a:r>
            <a:endParaRPr lang="en-GB" sz="1400" dirty="0">
              <a:latin typeface="Georgia Pro" panose="02040502050405020303" pitchFamily="18" charset="0"/>
            </a:endParaRPr>
          </a:p>
          <a:p>
            <a:r>
              <a:rPr sz="1400">
                <a:solidFill>
                  <a:srgbClr val="FFFFFF"/>
                </a:solidFill>
              </a:rPr>
              <a:t>-&gt; Strategic Financial Leadership, Business Growth &amp; Capital Strategy</a:t>
            </a:r>
          </a:p>
          <a:p>
            <a:r>
              <a:rPr sz="1400">
                <a:solidFill>
                  <a:srgbClr val="FFFFFF"/>
                </a:solidFill>
              </a:rPr>
              <a:t>-&gt; Finance Transformation &amp; Automation, Operational Excellence &amp; M&amp;A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,&quot; ThousandSeparator=&quot;.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1A112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890B46-A3D7-460D-8DCD-70181782F4BF}">
  <we:reference id="70ed8778-2a1c-4697-8cf0-5cf67c93b7b6" version="2.2.2.14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294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Georgia Pro</vt:lpstr>
      <vt:lpstr>Prompt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 Toader</dc:creator>
  <cp:lastModifiedBy>Alexandru Tudor</cp:lastModifiedBy>
  <cp:revision>59</cp:revision>
  <dcterms:created xsi:type="dcterms:W3CDTF">2025-07-29T10:15:29Z</dcterms:created>
  <dcterms:modified xsi:type="dcterms:W3CDTF">2026-03-16T17:34:32Z</dcterms:modified>
</cp:coreProperties>
</file>